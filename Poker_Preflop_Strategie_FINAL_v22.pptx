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7"/>
    <p:restoredTop sz="94694"/>
  </p:normalViewPr>
  <p:slideViewPr>
    <p:cSldViewPr snapToGrid="0" snapToObjects="1">
      <p:cViewPr>
        <p:scale>
          <a:sx n="129" d="100"/>
          <a:sy n="129" d="100"/>
        </p:scale>
        <p:origin x="2248" y="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458070"/>
              </p:ext>
            </p:extLst>
          </p:nvPr>
        </p:nvGraphicFramePr>
        <p:xfrm>
          <a:off x="457198" y="1466613"/>
          <a:ext cx="6153810" cy="51083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400">
                  <a:extLst>
                    <a:ext uri="{9D8B030D-6E8A-4147-A177-3AD203B41FA5}">
                      <a16:colId xmlns:a16="http://schemas.microsoft.com/office/drawing/2014/main" val="1867718678"/>
                    </a:ext>
                  </a:extLst>
                </a:gridCol>
                <a:gridCol w="1084002">
                  <a:extLst>
                    <a:ext uri="{9D8B030D-6E8A-4147-A177-3AD203B41FA5}">
                      <a16:colId xmlns:a16="http://schemas.microsoft.com/office/drawing/2014/main" val="2613303207"/>
                    </a:ext>
                  </a:extLst>
                </a:gridCol>
                <a:gridCol w="785512">
                  <a:extLst>
                    <a:ext uri="{9D8B030D-6E8A-4147-A177-3AD203B41FA5}">
                      <a16:colId xmlns:a16="http://schemas.microsoft.com/office/drawing/2014/main" val="2730825743"/>
                    </a:ext>
                  </a:extLst>
                </a:gridCol>
                <a:gridCol w="796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24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Hand-</a:t>
                      </a:r>
                      <a:r>
                        <a:rPr dirty="0" err="1"/>
                        <a:t>Kategorie</a:t>
                      </a:r>
                      <a:endParaRPr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EP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/>
                        <a:t>Blinds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CH"/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/>
                        <a:t>Dealer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67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de-CH" sz="1000" kern="1200" dirty="0">
                          <a:solidFill>
                            <a:schemeClr val="bg1"/>
                          </a:solidFill>
                        </a:rPr>
                        <a:t>Raise</a:t>
                      </a:r>
                      <a:endParaRPr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90000" marT="46800" marB="46800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de-CH" sz="1000" kern="1200" dirty="0">
                          <a:solidFill>
                            <a:schemeClr val="bg1"/>
                          </a:solidFill>
                        </a:rPr>
                        <a:t>Raise</a:t>
                      </a:r>
                      <a:endParaRPr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90000" marT="46800" marB="46800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de-CH" sz="1000" kern="1200" dirty="0">
                          <a:solidFill>
                            <a:schemeClr val="bg1"/>
                          </a:solidFill>
                        </a:rPr>
                        <a:t>Call</a:t>
                      </a:r>
                      <a:endParaRPr lang="de-CH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90000" marT="46800" marB="46800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de-CH" sz="1000" kern="1200" dirty="0">
                          <a:solidFill>
                            <a:schemeClr val="bg1"/>
                          </a:solidFill>
                        </a:rPr>
                        <a:t>Raise</a:t>
                      </a:r>
                      <a:endParaRPr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90000" marT="46800" marB="46800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de-CH" sz="1000" kern="1200" dirty="0">
                          <a:solidFill>
                            <a:schemeClr val="bg1"/>
                          </a:solidFill>
                        </a:rPr>
                        <a:t>Raise</a:t>
                      </a:r>
                      <a:endParaRPr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90000" marT="46800" marB="46800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568228"/>
                  </a:ext>
                </a:extLst>
              </a:tr>
              <a:tr h="33567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Paare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99+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Restliche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637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Ass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ATs+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Restliche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526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Ass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AKo</a:t>
                      </a: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,</a:t>
                      </a:r>
                      <a:r>
                        <a:rPr sz="1200" b="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AQo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AQo+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Restliche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A7o+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ATo</a:t>
                      </a: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6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König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KTs+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KJs+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Restliche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K2s+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K7s+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40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König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K9o+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KJo</a:t>
                      </a: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223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Dame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QTs+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Q5s+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Q9s+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09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Dame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QTo</a:t>
                      </a: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+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09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Bube (Suited)</a:t>
                      </a:r>
                      <a:endParaRPr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J7s+</a:t>
                      </a:r>
                      <a:endParaRPr lang="de-CH"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JTs,J9s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65077141"/>
                  </a:ext>
                </a:extLst>
              </a:tr>
              <a:tr h="33809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Bube (Offsuit)</a:t>
                      </a:r>
                      <a:endParaRPr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JTo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JTo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9127533"/>
                  </a:ext>
                </a:extLst>
              </a:tr>
              <a:tr h="26117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Connectors</a:t>
                      </a: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(Suited)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T9</a:t>
                      </a:r>
                      <a:r>
                        <a:rPr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s</a:t>
                      </a: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r>
                        <a:rPr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76s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T9s-43s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T9s-43s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17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Connectors (Offsuit)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b="0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b="0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Alle</a:t>
                      </a:r>
                      <a:endParaRPr sz="1200" b="0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b="0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8819769"/>
                  </a:ext>
                </a:extLst>
              </a:tr>
              <a:tr h="347882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 – Gappers (Suited)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T8s-53s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T8s-53s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278062"/>
                  </a:ext>
                </a:extLst>
              </a:tr>
              <a:tr h="257279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2 – Gappers (Suited)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T7s,96s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1385615"/>
                  </a:ext>
                </a:extLst>
              </a:tr>
            </a:tbl>
          </a:graphicData>
        </a:graphic>
      </p:graphicFrame>
      <p:sp>
        <p:nvSpPr>
          <p:cNvPr id="5" name="TextBox 2">
            <a:extLst>
              <a:ext uri="{FF2B5EF4-FFF2-40B4-BE49-F238E27FC236}">
                <a16:creationId xmlns:a16="http://schemas.microsoft.com/office/drawing/2014/main" id="{DC547478-012B-90D5-3EF7-8DA971CD69A3}"/>
              </a:ext>
            </a:extLst>
          </p:cNvPr>
          <p:cNvSpPr txBox="1"/>
          <p:nvPr/>
        </p:nvSpPr>
        <p:spPr>
          <a:xfrm>
            <a:off x="457198" y="278674"/>
            <a:ext cx="79231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b="1" dirty="0">
                <a:latin typeface="+mj-lt"/>
              </a:rPr>
              <a:t>1. PRE-FLOP </a:t>
            </a:r>
            <a:r>
              <a:rPr lang="de-CH" b="1" dirty="0">
                <a:latin typeface="+mj-lt"/>
              </a:rPr>
              <a:t>Initiative</a:t>
            </a:r>
            <a:endParaRPr b="1" dirty="0">
              <a:latin typeface="+mj-lt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003E190-0B4E-DCE5-E855-A8B5B1C873D2}"/>
              </a:ext>
            </a:extLst>
          </p:cNvPr>
          <p:cNvSpPr txBox="1"/>
          <p:nvPr/>
        </p:nvSpPr>
        <p:spPr>
          <a:xfrm>
            <a:off x="457199" y="640080"/>
            <a:ext cx="4657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dirty="0"/>
              <a:t>Kein Raise vor mir – ich eröffne die 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705312"/>
              </p:ext>
            </p:extLst>
          </p:nvPr>
        </p:nvGraphicFramePr>
        <p:xfrm>
          <a:off x="457199" y="1466612"/>
          <a:ext cx="3226528" cy="4212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2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8909">
                  <a:extLst>
                    <a:ext uri="{9D8B030D-6E8A-4147-A177-3AD203B41FA5}">
                      <a16:colId xmlns:a16="http://schemas.microsoft.com/office/drawing/2014/main" val="1319209360"/>
                    </a:ext>
                  </a:extLst>
                </a:gridCol>
                <a:gridCol w="9753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441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 err="1"/>
                        <a:t>Kategorie</a:t>
                      </a:r>
                      <a:endParaRPr dirty="0"/>
                    </a:p>
                  </a:txBody>
                  <a:tcPr anchor="b"/>
                </a:tc>
                <a:tc gridSpan="2"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lang="de-CH" dirty="0"/>
                        <a:t>ALLE Positionen</a:t>
                      </a:r>
                      <a:endParaRPr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41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endParaRPr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3-Bet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Call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285361"/>
                  </a:ext>
                </a:extLst>
              </a:tr>
              <a:tr h="40374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Paare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AA,KK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Restliche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57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Ass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A5s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ATs+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34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Ass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AKo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09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König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KTs+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09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Dame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QTs+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09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Bube (Suited)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3079474"/>
                  </a:ext>
                </a:extLst>
              </a:tr>
              <a:tr h="458642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Connectors (Suited)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JT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s</a:t>
                      </a: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76s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2">
            <a:extLst>
              <a:ext uri="{FF2B5EF4-FFF2-40B4-BE49-F238E27FC236}">
                <a16:creationId xmlns:a16="http://schemas.microsoft.com/office/drawing/2014/main" id="{D08DE092-EE95-7B95-8ED3-C08995A2A374}"/>
              </a:ext>
            </a:extLst>
          </p:cNvPr>
          <p:cNvSpPr txBox="1"/>
          <p:nvPr/>
        </p:nvSpPr>
        <p:spPr>
          <a:xfrm>
            <a:off x="457200" y="182880"/>
            <a:ext cx="79231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lang="de-CH" b="1" dirty="0"/>
              <a:t>2</a:t>
            </a:r>
            <a:r>
              <a:rPr b="1" dirty="0"/>
              <a:t>. PRE-FLOP </a:t>
            </a:r>
            <a:r>
              <a:rPr lang="de-CH" b="1" dirty="0"/>
              <a:t>Verteidigung</a:t>
            </a: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6A54215E-4C4A-68A6-743D-B038C6AE4FCB}"/>
              </a:ext>
            </a:extLst>
          </p:cNvPr>
          <p:cNvSpPr txBox="1"/>
          <p:nvPr/>
        </p:nvSpPr>
        <p:spPr>
          <a:xfrm>
            <a:off x="457199" y="686246"/>
            <a:ext cx="4657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dirty="0"/>
              <a:t>Tighter Raiser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018288"/>
              </p:ext>
            </p:extLst>
          </p:nvPr>
        </p:nvGraphicFramePr>
        <p:xfrm>
          <a:off x="457199" y="1147595"/>
          <a:ext cx="8573590" cy="55905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4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5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837">
                  <a:extLst>
                    <a:ext uri="{9D8B030D-6E8A-4147-A177-3AD203B41FA5}">
                      <a16:colId xmlns:a16="http://schemas.microsoft.com/office/drawing/2014/main" val="3638251100"/>
                    </a:ext>
                  </a:extLst>
                </a:gridCol>
                <a:gridCol w="924837">
                  <a:extLst>
                    <a:ext uri="{9D8B030D-6E8A-4147-A177-3AD203B41FA5}">
                      <a16:colId xmlns:a16="http://schemas.microsoft.com/office/drawing/2014/main" val="3478943459"/>
                    </a:ext>
                  </a:extLst>
                </a:gridCol>
                <a:gridCol w="924837">
                  <a:extLst>
                    <a:ext uri="{9D8B030D-6E8A-4147-A177-3AD203B41FA5}">
                      <a16:colId xmlns:a16="http://schemas.microsoft.com/office/drawing/2014/main" val="520558260"/>
                    </a:ext>
                  </a:extLst>
                </a:gridCol>
                <a:gridCol w="814674">
                  <a:extLst>
                    <a:ext uri="{9D8B030D-6E8A-4147-A177-3AD203B41FA5}">
                      <a16:colId xmlns:a16="http://schemas.microsoft.com/office/drawing/2014/main" val="1899712427"/>
                    </a:ext>
                  </a:extLst>
                </a:gridCol>
                <a:gridCol w="975855">
                  <a:extLst>
                    <a:ext uri="{9D8B030D-6E8A-4147-A177-3AD203B41FA5}">
                      <a16:colId xmlns:a16="http://schemas.microsoft.com/office/drawing/2014/main" val="3820146012"/>
                    </a:ext>
                  </a:extLst>
                </a:gridCol>
                <a:gridCol w="983982">
                  <a:extLst>
                    <a:ext uri="{9D8B030D-6E8A-4147-A177-3AD203B41FA5}">
                      <a16:colId xmlns:a16="http://schemas.microsoft.com/office/drawing/2014/main" val="1543126364"/>
                    </a:ext>
                  </a:extLst>
                </a:gridCol>
                <a:gridCol w="9248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302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 err="1"/>
                        <a:t>Kategorie</a:t>
                      </a:r>
                      <a:endParaRPr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de-CH" sz="1000" dirty="0"/>
                        <a:t>EP</a:t>
                      </a:r>
                      <a:endParaRPr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>
                        <a:defRPr sz="1000"/>
                      </a:pPr>
                      <a:endParaRPr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/>
                        <a:t>Blinds</a:t>
                      </a:r>
                      <a:endParaRPr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/>
                        <a:t>Dealer</a:t>
                      </a:r>
                      <a:endParaRPr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/>
                        <a:t>CO</a:t>
                      </a:r>
                      <a:endParaRPr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02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endParaRPr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3-Bet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Call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3-Bet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Call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3-Bet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Call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3-Bet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Call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83756"/>
                  </a:ext>
                </a:extLst>
              </a:tr>
              <a:tr h="47441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Paare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QQ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+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JJ-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99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+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44-22</a:t>
                      </a: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88-55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99+</a:t>
                      </a:r>
                    </a:p>
                    <a:p>
                      <a:pPr algn="l">
                        <a:defRPr sz="1000"/>
                      </a:pP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88-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JJ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+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TT-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2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Ass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</a:t>
                      </a: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s</a:t>
                      </a:r>
                      <a:endParaRPr lang="de-CH"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A5s-A2s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AQs-A6s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A2s+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AKs-ATs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A5s-A2s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A9s-A6s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AKs,A7s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A5s-A2s</a:t>
                      </a:r>
                      <a:endParaRPr lang="de-CH"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AQs-A8s</a:t>
                      </a:r>
                    </a:p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A6s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78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Ass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AKo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AQo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AJo</a:t>
                      </a: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+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ATo-A8o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AKo</a:t>
                      </a:r>
                      <a:r>
                        <a:rPr lang="de-CH"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,</a:t>
                      </a: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AQo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AJo</a:t>
                      </a:r>
                      <a:r>
                        <a:rPr lang="de-CH"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,</a:t>
                      </a: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ATo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AKo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AQo</a:t>
                      </a:r>
                      <a:r>
                        <a:rPr lang="de-CH"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,</a:t>
                      </a: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AJo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554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König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KTs+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KJs+</a:t>
                      </a:r>
                      <a:endParaRPr lang="de-CH"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K7s-K5s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KTs-K8s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K4s-K2s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KQs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KJs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KTs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K9s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K9s+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217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König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KQo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KJo-K9o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KQo-KJo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KQo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12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Dame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QTs+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Q9s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QJs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QTs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Q8s-Q5s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QJs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QTs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Q9s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Q9s+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90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Dame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Q9o+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367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Bube (Suited)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JTs,J8s,J7s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J9s,J8s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JTs,J9s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44897655"/>
                  </a:ext>
                </a:extLst>
              </a:tr>
              <a:tr h="27312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Bube (Offsuit)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JTo,J9o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1700964"/>
                  </a:ext>
                </a:extLst>
              </a:tr>
              <a:tr h="485342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Connectors</a:t>
                      </a: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(Suited)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T9s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87s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JTs,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98s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76s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98s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54s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JTs-T9s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43s</a:t>
                      </a:r>
                      <a:endParaRPr lang="de-CH"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JTs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T9s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43s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T9s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87s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54s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JTs,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98s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76s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65s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Connectors (Offsuit)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JTo-98o</a:t>
                      </a:r>
                      <a:endParaRPr lang="de-CH" sz="1200" i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9268401"/>
                  </a:ext>
                </a:extLst>
              </a:tr>
              <a:tr h="46357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1-Gappers (Suited)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J9s,86s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75s-53s</a:t>
                      </a:r>
                    </a:p>
                    <a:p>
                      <a:pPr algn="l">
                        <a:defRPr sz="1000"/>
                      </a:pP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97s,75s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J9s,T8s</a:t>
                      </a:r>
                    </a:p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86s,64s,53s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J9s,86s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42547863"/>
                  </a:ext>
                </a:extLst>
              </a:tr>
              <a:tr h="26359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1-Gappers (Offsuit)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J9o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lang="de-CH"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2593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2-Gappers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J8s-96s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J8s-T7s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9857858"/>
                  </a:ext>
                </a:extLst>
              </a:tr>
            </a:tbl>
          </a:graphicData>
        </a:graphic>
      </p:graphicFrame>
      <p:sp>
        <p:nvSpPr>
          <p:cNvPr id="5" name="TextBox 2">
            <a:extLst>
              <a:ext uri="{FF2B5EF4-FFF2-40B4-BE49-F238E27FC236}">
                <a16:creationId xmlns:a16="http://schemas.microsoft.com/office/drawing/2014/main" id="{96BAE5A5-D03A-27F4-581B-F832DFA48ADA}"/>
              </a:ext>
            </a:extLst>
          </p:cNvPr>
          <p:cNvSpPr txBox="1"/>
          <p:nvPr/>
        </p:nvSpPr>
        <p:spPr>
          <a:xfrm>
            <a:off x="457199" y="182880"/>
            <a:ext cx="79231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lang="de-CH" b="1" dirty="0"/>
              <a:t>2</a:t>
            </a:r>
            <a:r>
              <a:rPr b="1" dirty="0"/>
              <a:t>. PRE-FLOP </a:t>
            </a:r>
            <a:r>
              <a:rPr lang="de-CH" b="1" dirty="0"/>
              <a:t>Verteidigung</a:t>
            </a:r>
            <a:endParaRPr b="1" dirty="0"/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CDAF2A2-AAB6-6381-BF53-2AC386AC995D}"/>
              </a:ext>
            </a:extLst>
          </p:cNvPr>
          <p:cNvSpPr txBox="1"/>
          <p:nvPr/>
        </p:nvSpPr>
        <p:spPr>
          <a:xfrm>
            <a:off x="457199" y="640080"/>
            <a:ext cx="4657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dirty="0"/>
              <a:t>Looser Raiser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ACB83C4-0F63-2706-C615-8B7B03754BF0}"/>
              </a:ext>
            </a:extLst>
          </p:cNvPr>
          <p:cNvSpPr txBox="1"/>
          <p:nvPr/>
        </p:nvSpPr>
        <p:spPr>
          <a:xfrm>
            <a:off x="4897821" y="105750"/>
            <a:ext cx="318482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CH" sz="1100" b="1" dirty="0"/>
          </a:p>
          <a:p>
            <a:endParaRPr lang="de-CH" sz="1100" b="1" dirty="0"/>
          </a:p>
          <a:p>
            <a:pPr algn="ctr"/>
            <a:endParaRPr lang="de-CH" sz="1100" b="1" dirty="0"/>
          </a:p>
          <a:p>
            <a:r>
              <a:rPr lang="de-CH" sz="1100" dirty="0"/>
              <a:t>Eearly Position hat geraisedODER Raise ist &gt; 3BB</a:t>
            </a:r>
          </a:p>
          <a:p>
            <a:r>
              <a:rPr lang="de-CH" sz="1100" dirty="0"/>
              <a:t>Dealer/CO hat geraised</a:t>
            </a:r>
          </a:p>
        </p:txBody>
      </p:sp>
      <p:cxnSp>
        <p:nvCxnSpPr>
          <p:cNvPr id="35" name="Gewinkelte Verbindung 34">
            <a:extLst>
              <a:ext uri="{FF2B5EF4-FFF2-40B4-BE49-F238E27FC236}">
                <a16:creationId xmlns:a16="http://schemas.microsoft.com/office/drawing/2014/main" id="{A0B2191B-A4F8-F5AB-4FDE-042276BA3B25}"/>
              </a:ext>
            </a:extLst>
          </p:cNvPr>
          <p:cNvCxnSpPr>
            <a:cxnSpLocks/>
          </p:cNvCxnSpPr>
          <p:nvPr/>
        </p:nvCxnSpPr>
        <p:spPr>
          <a:xfrm rot="10800000" flipV="1">
            <a:off x="2318657" y="752266"/>
            <a:ext cx="2579166" cy="404387"/>
          </a:xfrm>
          <a:prstGeom prst="bentConnector3">
            <a:avLst>
              <a:gd name="adj1" fmla="val 100015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winkelte Verbindung 40">
            <a:extLst>
              <a:ext uri="{FF2B5EF4-FFF2-40B4-BE49-F238E27FC236}">
                <a16:creationId xmlns:a16="http://schemas.microsoft.com/office/drawing/2014/main" id="{57BBE272-D457-9FD2-D3D6-8DE87044CFEC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85557" y="893515"/>
            <a:ext cx="712266" cy="263139"/>
          </a:xfrm>
          <a:prstGeom prst="bentConnector3">
            <a:avLst>
              <a:gd name="adj1" fmla="val 100435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D22D58-CE82-6704-88FB-A1B84D585BA8}"/>
              </a:ext>
            </a:extLst>
          </p:cNvPr>
          <p:cNvSpPr txBox="1"/>
          <p:nvPr/>
        </p:nvSpPr>
        <p:spPr>
          <a:xfrm>
            <a:off x="457200" y="182880"/>
            <a:ext cx="79231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lang="de-CH" b="1" dirty="0"/>
              <a:t>2</a:t>
            </a:r>
            <a:r>
              <a:rPr b="1" dirty="0"/>
              <a:t>. PRE-FLOP </a:t>
            </a:r>
            <a:r>
              <a:rPr lang="de-CH" b="1" dirty="0"/>
              <a:t>Verteidigung</a:t>
            </a:r>
            <a:endParaRPr b="1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C8BB9E7-41F2-275A-D90D-98411EE06B7C}"/>
              </a:ext>
            </a:extLst>
          </p:cNvPr>
          <p:cNvSpPr txBox="1"/>
          <p:nvPr/>
        </p:nvSpPr>
        <p:spPr>
          <a:xfrm>
            <a:off x="609599" y="1012954"/>
            <a:ext cx="8111613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" dirty="0"/>
              <a:t>Wenn du in den </a:t>
            </a:r>
            <a:r>
              <a:rPr lang="de-CH" sz="1600" b="1" dirty="0"/>
              <a:t>Blinds</a:t>
            </a:r>
            <a:r>
              <a:rPr lang="de-CH" sz="1600" dirty="0"/>
              <a:t> (Small Blind oder Big Blind) sitzt und mit einem Raise konfrontiert wirst, unterscheidet Miller strikt zwischen der Herkunft des Raises, um deine Verteidigungsstrategie festzulegen:</a:t>
            </a:r>
          </a:p>
          <a:p>
            <a:endParaRPr lang="de-CH" b="1" dirty="0"/>
          </a:p>
          <a:p>
            <a:br>
              <a:rPr lang="de-CH" b="1" dirty="0"/>
            </a:br>
            <a:r>
              <a:rPr lang="de-CH" b="1" dirty="0"/>
              <a:t>1. CO/BTN stealt → Blinds-Spalte</a:t>
            </a:r>
          </a:p>
          <a:p>
            <a:r>
              <a:rPr lang="de-CH" sz="1600" dirty="0"/>
              <a:t>Wenn der Raise vom </a:t>
            </a:r>
            <a:r>
              <a:rPr lang="de-CH" sz="1600" b="1" dirty="0"/>
              <a:t>Cutoff (CO)</a:t>
            </a:r>
            <a:r>
              <a:rPr lang="de-CH" sz="1600" dirty="0"/>
              <a:t> oder </a:t>
            </a:r>
            <a:r>
              <a:rPr lang="de-CH" sz="1600" b="1" dirty="0"/>
              <a:t>Button (BTN)</a:t>
            </a:r>
            <a:r>
              <a:rPr lang="de-CH" sz="1600" dirty="0"/>
              <a:t> kommt, betrachtet Miller dies als "Steal-Versuch" mit einer weiten, schwachen Range. In diesem Fall nutzt du die spezifische </a:t>
            </a:r>
            <a:r>
              <a:rPr lang="de-CH" sz="1600" b="1" dirty="0"/>
              <a:t>"Blinds"-Verteidigungsrange</a:t>
            </a:r>
            <a:r>
              <a:rPr lang="de-CH" sz="1600" dirty="0"/>
              <a:t> (ca. 36 % Verteidigungsfrequenz), die für Reraises (3-Bets) und Calls deutlich weiter gefasst ist.</a:t>
            </a:r>
          </a:p>
          <a:p>
            <a:br>
              <a:rPr lang="de-CH" sz="1200" b="1" dirty="0"/>
            </a:br>
            <a:r>
              <a:rPr lang="de-CH" b="1" dirty="0"/>
              <a:t>2. EP raist → EP-Spalte</a:t>
            </a:r>
          </a:p>
          <a:p>
            <a:r>
              <a:rPr lang="de-CH" sz="1600" dirty="0"/>
              <a:t>Wenn der Raise aus einer </a:t>
            </a:r>
            <a:r>
              <a:rPr lang="de-CH" sz="1600" b="1" dirty="0"/>
              <a:t>frühen Position (EP)</a:t>
            </a:r>
            <a:r>
              <a:rPr lang="de-CH" sz="1600" dirty="0"/>
              <a:t> kommt, ist dieser laut Miller selbst bei einem loosen Spieler tendenziell stärker als ein Steal-Versuch aus später Position. Deshalb empfiehlt er, in den Blinds so zu reagieren, als würdest du selbst in </a:t>
            </a:r>
            <a:r>
              <a:rPr lang="de-CH" sz="1600" b="1" dirty="0"/>
              <a:t>Early Position</a:t>
            </a:r>
            <a:r>
              <a:rPr lang="de-CH" sz="1600" dirty="0"/>
              <a:t> sitzen und einem Raise gegenüberstehen. Du nutzt also die </a:t>
            </a:r>
            <a:r>
              <a:rPr lang="de-CH" sz="1600" b="1" dirty="0"/>
              <a:t>"EP"-Spalte</a:t>
            </a:r>
            <a:r>
              <a:rPr lang="de-CH" sz="1600" dirty="0"/>
              <a:t> der Verteidigungstabelle, die deutlich tighter ist, um dich nicht mit schwachen Händen gegen eine starke Range zu isolieren.</a:t>
            </a:r>
            <a:br>
              <a:rPr lang="de-CH" sz="1400" dirty="0"/>
            </a:br>
            <a:endParaRPr lang="de-CH" sz="1400" dirty="0"/>
          </a:p>
          <a:p>
            <a:endParaRPr lang="de-CH" dirty="0"/>
          </a:p>
          <a:p>
            <a:br>
              <a:rPr lang="de-CH" dirty="0"/>
            </a:br>
            <a:r>
              <a:rPr lang="de-CH" b="1" dirty="0"/>
              <a:t>Blinds-Regel</a:t>
            </a:r>
            <a:r>
              <a:rPr lang="de-CH" dirty="0"/>
              <a:t>: CO/BTN stealt → Blinds-Spalte. EP raist → EP-Spalte.</a:t>
            </a:r>
          </a:p>
        </p:txBody>
      </p:sp>
    </p:spTree>
    <p:extLst>
      <p:ext uri="{BB962C8B-B14F-4D97-AF65-F5344CB8AC3E}">
        <p14:creationId xmlns:p14="http://schemas.microsoft.com/office/powerpoint/2010/main" val="2994600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712</Words>
  <Application>Microsoft Macintosh PowerPoint</Application>
  <PresentationFormat>Bildschirmpräsentation (4:3)</PresentationFormat>
  <Paragraphs>280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Wüthrich Adrian BIT</cp:lastModifiedBy>
  <cp:revision>38</cp:revision>
  <dcterms:created xsi:type="dcterms:W3CDTF">2013-01-27T09:14:16Z</dcterms:created>
  <dcterms:modified xsi:type="dcterms:W3CDTF">2026-03-08T10:01:24Z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45c3252-146d-46f3-8062-82cd8c8d7e7d_Enabled">
    <vt:lpwstr>true</vt:lpwstr>
  </property>
  <property fmtid="{D5CDD505-2E9C-101B-9397-08002B2CF9AE}" pid="3" name="MSIP_Label_245c3252-146d-46f3-8062-82cd8c8d7e7d_SetDate">
    <vt:lpwstr>2026-02-27T17:13:22Z</vt:lpwstr>
  </property>
  <property fmtid="{D5CDD505-2E9C-101B-9397-08002B2CF9AE}" pid="4" name="MSIP_Label_245c3252-146d-46f3-8062-82cd8c8d7e7d_Method">
    <vt:lpwstr>Privileged</vt:lpwstr>
  </property>
  <property fmtid="{D5CDD505-2E9C-101B-9397-08002B2CF9AE}" pid="5" name="MSIP_Label_245c3252-146d-46f3-8062-82cd8c8d7e7d_Name">
    <vt:lpwstr>L1</vt:lpwstr>
  </property>
  <property fmtid="{D5CDD505-2E9C-101B-9397-08002B2CF9AE}" pid="6" name="MSIP_Label_245c3252-146d-46f3-8062-82cd8c8d7e7d_SiteId">
    <vt:lpwstr>6ae27add-8276-4a38-88c1-3a9c1f973767</vt:lpwstr>
  </property>
  <property fmtid="{D5CDD505-2E9C-101B-9397-08002B2CF9AE}" pid="7" name="MSIP_Label_245c3252-146d-46f3-8062-82cd8c8d7e7d_ActionId">
    <vt:lpwstr>193eaaa3-cc61-4726-af38-4834258955c4</vt:lpwstr>
  </property>
  <property fmtid="{D5CDD505-2E9C-101B-9397-08002B2CF9AE}" pid="8" name="MSIP_Label_245c3252-146d-46f3-8062-82cd8c8d7e7d_ContentBits">
    <vt:lpwstr>0</vt:lpwstr>
  </property>
  <property fmtid="{D5CDD505-2E9C-101B-9397-08002B2CF9AE}" pid="9" name="MSIP_Label_245c3252-146d-46f3-8062-82cd8c8d7e7d_Tag">
    <vt:lpwstr>50, 0, 1, 1</vt:lpwstr>
  </property>
</Properties>
</file>